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7" r:id="rId4"/>
    <p:sldId id="263" r:id="rId5"/>
    <p:sldId id="260" r:id="rId6"/>
    <p:sldId id="261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009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6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1CC20-A90C-1945-B4D7-39F7FD51822A}" type="datetimeFigureOut">
              <a:rPr lang="en-IL" smtClean="0"/>
              <a:t>22/10/2025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F0635-251B-2C41-A808-68240DF8BFA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1484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F0635-251B-2C41-A808-68240DF8BFA6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7544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F0635-251B-2C41-A808-68240DF8BFA6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1336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EDEA-8F70-03FD-98E7-CC954EB2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The Story of</a:t>
            </a:r>
            <a:r>
              <a:rPr lang="he-IL" dirty="0"/>
              <a:t> </a:t>
            </a:r>
            <a:r>
              <a:rPr lang="en-US" dirty="0"/>
              <a:t>Temporal Coverage</a:t>
            </a:r>
            <a:r>
              <a:rPr lang="he-IL" dirty="0"/>
              <a:t> </a:t>
            </a:r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635940-4BA8-1F26-B9AB-34412B0D6B75}"/>
              </a:ext>
            </a:extLst>
          </p:cNvPr>
          <p:cNvSpPr txBox="1"/>
          <p:nvPr/>
        </p:nvSpPr>
        <p:spPr>
          <a:xfrm>
            <a:off x="325822" y="1261241"/>
            <a:ext cx="8229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חשוב לבדוק מערכות, במיוחד היום בעידן ה</a:t>
            </a:r>
            <a:r>
              <a:rPr lang="en-US" dirty="0"/>
              <a:t>ai</a:t>
            </a:r>
            <a:r>
              <a:rPr lang="he-IL" dirty="0"/>
              <a:t> חשיבות יתרה לאימות מוגבר כשמייצרים בקלות כך שלאנשים נשאר לבדוק האם התבצע כמו שצריך.</a:t>
            </a:r>
            <a:endParaRPr lang="en-US" dirty="0"/>
          </a:p>
          <a:p>
            <a:pPr algn="just" defTabSz="457200" rtl="1" eaLnBrk="1" latinLnBrk="0" hangingPunct="1"/>
            <a:endParaRPr lang="he-IL" dirty="0"/>
          </a:p>
          <a:p>
            <a:pPr marL="285750" indent="-285750" algn="just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יש אינסוף בדיקות שאפשר לעשות על מערכת.</a:t>
            </a:r>
            <a:endParaRPr lang="en-US" dirty="0"/>
          </a:p>
          <a:p>
            <a:pPr algn="just" defTabSz="457200" rtl="1" eaLnBrk="1" latinLnBrk="0" hangingPunct="1"/>
            <a:endParaRPr lang="he-IL" dirty="0"/>
          </a:p>
          <a:p>
            <a:pPr marL="285750" indent="-285750" algn="just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מושג מרכזי הוא הכיסוי </a:t>
            </a:r>
            <a:endParaRPr lang="en-US" dirty="0"/>
          </a:p>
          <a:p>
            <a:pPr algn="just" defTabSz="457200" rtl="1" eaLnBrk="1" latinLnBrk="0" hangingPunct="1"/>
            <a:endParaRPr lang="he-IL" dirty="0"/>
          </a:p>
          <a:p>
            <a:pPr marL="285750" indent="-285750" algn="just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שיטות שנקראות </a:t>
            </a:r>
            <a:r>
              <a:rPr lang="en-US" dirty="0"/>
              <a:t>CTD</a:t>
            </a:r>
            <a:r>
              <a:rPr lang="he-IL" dirty="0"/>
              <a:t> מציעות כיסוי שמבוסס על שילוב משתנים בבדיקה אחת.</a:t>
            </a:r>
            <a:endParaRPr lang="en-US" dirty="0"/>
          </a:p>
          <a:p>
            <a:pPr algn="just" defTabSz="457200" rtl="1" eaLnBrk="1" latinLnBrk="0" hangingPunct="1"/>
            <a:endParaRPr lang="he-IL" dirty="0"/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he-IL" dirty="0"/>
              <a:t>אנחנו מציעים כיסוי </a:t>
            </a:r>
            <a:r>
              <a:rPr lang="en-US" dirty="0"/>
              <a:t>CTD</a:t>
            </a:r>
            <a:r>
              <a:rPr lang="he-IL" dirty="0"/>
              <a:t> שמבוסס על סדר ביצוע פעולות בזמן. (</a:t>
            </a:r>
            <a:r>
              <a:rPr lang="en-US" dirty="0"/>
              <a:t>temporal</a:t>
            </a:r>
            <a:r>
              <a:rPr lang="he-IL" dirty="0"/>
              <a:t>) שילבנו בין שיטות של </a:t>
            </a:r>
            <a:r>
              <a:rPr lang="en-US" dirty="0"/>
              <a:t>formal methods</a:t>
            </a:r>
            <a:r>
              <a:rPr lang="he-IL" dirty="0"/>
              <a:t> עם </a:t>
            </a:r>
            <a:r>
              <a:rPr lang="en-US" dirty="0"/>
              <a:t>CTD</a:t>
            </a:r>
            <a:r>
              <a:rPr lang="he-IL" dirty="0"/>
              <a:t> קלאסי. </a:t>
            </a:r>
            <a:r>
              <a:rPr lang="he-IL" dirty="0">
                <a:highlight>
                  <a:srgbClr val="FFFF00"/>
                </a:highlight>
              </a:rPr>
              <a:t>סיבוכיות?!.</a:t>
            </a:r>
            <a:r>
              <a:rPr lang="he-IL" dirty="0"/>
              <a:t> בניית </a:t>
            </a:r>
            <a:r>
              <a:rPr lang="en-US" dirty="0"/>
              <a:t>transition</a:t>
            </a:r>
            <a:r>
              <a:rPr lang="he-IL" dirty="0"/>
              <a:t>, נגדיר טסט, ונגדיר כיסוי </a:t>
            </a:r>
            <a:r>
              <a:rPr lang="he-IL" dirty="0" err="1"/>
              <a:t>בהנתן</a:t>
            </a:r>
            <a:r>
              <a:rPr lang="he-IL" dirty="0"/>
              <a:t> אוסף של קבוצות של תכונות טמפורליות.</a:t>
            </a:r>
            <a:endParaRPr lang="he-IL" dirty="0">
              <a:highlight>
                <a:srgbClr val="FFFF00"/>
              </a:highlight>
            </a:endParaRPr>
          </a:p>
          <a:p>
            <a:pPr algn="just" defTabSz="457200" rtl="1" eaLnBrk="1" latinLnBrk="0" hangingPunct="1"/>
            <a:endParaRPr lang="he-IL" dirty="0"/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he-IL" dirty="0"/>
              <a:t>שימוש בשיטה לצורך הקיים בשוק - השיטה בנויה כך שכל צוות מתעסק באספקט אחר של הבדיקות, ורוצים לראות איך משלבים ביניהם באופן יעיל ומהיר יותר. (צוותים עובדים במקביל, על בדיקות שונות ורוצים לשלב ביניהם). </a:t>
            </a:r>
            <a:r>
              <a:rPr lang="he-IL" dirty="0">
                <a:highlight>
                  <a:srgbClr val="00FFFF"/>
                </a:highlight>
              </a:rPr>
              <a:t>גרא?!</a:t>
            </a:r>
          </a:p>
          <a:p>
            <a:pPr algn="just" rtl="1"/>
            <a:endParaRPr lang="he-IL" dirty="0"/>
          </a:p>
          <a:p>
            <a:pPr marL="285750" indent="-285750" algn="just" defTabSz="457200" rtl="1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נדגים את ישימות הרעיון באמצעות כלי </a:t>
            </a:r>
            <a:r>
              <a:rPr lang="en-US" dirty="0" err="1"/>
              <a:t>nuXmv</a:t>
            </a:r>
            <a:r>
              <a:rPr lang="he-IL" dirty="0"/>
              <a:t> שמשתמש באלגוריתם</a:t>
            </a:r>
            <a:r>
              <a:rPr lang="en-US" dirty="0"/>
              <a:t>(like) </a:t>
            </a:r>
            <a:r>
              <a:rPr lang="he-IL" dirty="0"/>
              <a:t> </a:t>
            </a:r>
            <a:r>
              <a:rPr lang="en-US" dirty="0"/>
              <a:t>IPO</a:t>
            </a:r>
            <a:r>
              <a:rPr lang="he-IL" dirty="0"/>
              <a:t> </a:t>
            </a:r>
            <a:r>
              <a:rPr lang="en-US" dirty="0"/>
              <a:t>)</a:t>
            </a:r>
            <a:r>
              <a:rPr lang="he-IL" dirty="0"/>
              <a:t>כדי ליישם את השימוש ב</a:t>
            </a:r>
            <a:r>
              <a:rPr lang="en-US" dirty="0"/>
              <a:t>(CTD</a:t>
            </a:r>
            <a:r>
              <a:rPr lang="he-IL" dirty="0"/>
              <a:t> - </a:t>
            </a:r>
            <a:r>
              <a:rPr lang="he-IL" dirty="0" err="1">
                <a:highlight>
                  <a:srgbClr val="00FFFF"/>
                </a:highlight>
              </a:rPr>
              <a:t>זויה</a:t>
            </a:r>
            <a:endParaRPr lang="en-IL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6599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dirty="0"/>
              <a:t>Our General Goal – Minimize the Amount of Tests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41738" y="1417638"/>
            <a:ext cx="87656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/>
              <a:t> </a:t>
            </a:r>
            <a:r>
              <a:rPr lang="en-US" dirty="0"/>
              <a:t>The goal is to check how using temporal properties can minimize the test space.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Testing everything - impossible as it’s endless testing</a:t>
            </a:r>
            <a:endParaRPr lang="he-IL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Setting the temporal properties for A, B, C will give us 8 test classes total for all Boolean parameters (2*2*2)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Using CTD pairwise will even bring it to 5 tests if we use Boolean variables.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Main Issues: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Adding a stop condition for the test - in this case - every test must end with a Checkout.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Non Boolean variables example.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dirty="0"/>
              <a:t>Defining</a:t>
            </a:r>
            <a:r>
              <a:rPr dirty="0"/>
              <a:t> A, B,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7266" y="1417638"/>
            <a:ext cx="8700652" cy="4801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/>
              <a:t>A </a:t>
            </a:r>
            <a:r>
              <a:rPr lang="en-US" dirty="0"/>
              <a:t>-</a:t>
            </a:r>
            <a:r>
              <a:rPr dirty="0"/>
              <a:t> </a:t>
            </a:r>
            <a:r>
              <a:rPr lang="en-US" dirty="0"/>
              <a:t>no logout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/>
              <a:t>True: </a:t>
            </a:r>
            <a:r>
              <a:rPr lang="en-US" dirty="0"/>
              <a:t>The user will not logout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/>
              <a:t>False: </a:t>
            </a:r>
            <a:r>
              <a:rPr lang="en-US" dirty="0"/>
              <a:t>The user logs out</a:t>
            </a:r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dirty="0"/>
              <a:t>B </a:t>
            </a:r>
            <a:r>
              <a:rPr lang="en-US" dirty="0"/>
              <a:t>–</a:t>
            </a:r>
            <a:r>
              <a:rPr dirty="0"/>
              <a:t> max</a:t>
            </a:r>
            <a:r>
              <a:rPr lang="en-US" dirty="0"/>
              <a:t> </a:t>
            </a:r>
            <a:r>
              <a:rPr dirty="0"/>
              <a:t>items</a:t>
            </a:r>
            <a:r>
              <a:rPr lang="en-US" dirty="0"/>
              <a:t> </a:t>
            </a:r>
            <a:r>
              <a:rPr dirty="0"/>
              <a:t>see</a:t>
            </a:r>
            <a:r>
              <a:rPr lang="en-US" dirty="0"/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One option (basic - </a:t>
            </a:r>
            <a:r>
              <a:rPr lang="en-US" dirty="0" err="1"/>
              <a:t>boolean</a:t>
            </a:r>
            <a:r>
              <a:rPr lang="en-US" dirty="0"/>
              <a:t>) – there is a threshold of max items seen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option (multiple choices) – a number is representing the max items (here 3,4,5)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C – no remove ever done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IL" dirty="0"/>
              <a:t>True: no remove has been done.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False: there was a remove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u="sng" dirty="0"/>
              <a:t>Some things to take into consideration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Each one of the A, B, C represents a temporal property and not a module of the system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A </a:t>
            </a:r>
            <a:r>
              <a:rPr lang="en-US" b="1" dirty="0"/>
              <a:t>constraint</a:t>
            </a:r>
            <a:r>
              <a:rPr lang="en-US" dirty="0"/>
              <a:t> in our case - The user can’t logout if there are items in the cart: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Means – it can’t be A=0, C=1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2616-6F2A-25D7-9D06-C673DA7EE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en-US" sz="3400" dirty="0"/>
              <a:t>IPO Based Pairwise Coverage Validation Checklist</a:t>
            </a:r>
            <a:endParaRPr lang="en-IL" sz="3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F4A184-2956-D8C8-C9CA-2AA4F942819D}"/>
              </a:ext>
            </a:extLst>
          </p:cNvPr>
          <p:cNvSpPr txBox="1"/>
          <p:nvPr/>
        </p:nvSpPr>
        <p:spPr>
          <a:xfrm>
            <a:off x="483476" y="1417638"/>
            <a:ext cx="72624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The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world: A {0,1}, B {3,4,5}, C{0,1}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new parameter (C) to </a:t>
            </a:r>
            <a:r>
              <a:rPr lang="en-US" b="1" dirty="0"/>
              <a:t>existing A×B CTD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goal: Ensure all pairs (A,C) and (B,C) are covered at least once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Required Pair Sets</a:t>
            </a:r>
            <a:br>
              <a:rPr lang="en-US" dirty="0"/>
            </a:br>
            <a:r>
              <a:rPr lang="en-US" dirty="0"/>
              <a:t>• A–C → (0,0), (0,1), (1,0), (1,1)</a:t>
            </a:r>
            <a:br>
              <a:rPr lang="en-US" dirty="0"/>
            </a:br>
            <a:r>
              <a:rPr lang="en-US" dirty="0"/>
              <a:t>• B–C → (3,0), (3,1), (4,0), (4,1), (5,0), (5,1)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Coverage Evaluation – </a:t>
            </a:r>
            <a:r>
              <a:rPr lang="en-US" b="1" dirty="0"/>
              <a:t>A-B pairs complete </a:t>
            </a:r>
            <a:r>
              <a:rPr lang="en-US" dirty="0"/>
              <a:t>(in case of constraints – they will be tested here) , while adding random C values to the tests.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Correction Step – adding minimal new rows covering uncovered pairs. Prefer rows fixing multiple pairs simultaneously.</a:t>
            </a:r>
          </a:p>
          <a:p>
            <a:endParaRPr lang="en-US" dirty="0"/>
          </a:p>
          <a:p>
            <a:r>
              <a:rPr lang="en-US" dirty="0"/>
              <a:t>Verified via Z3</a:t>
            </a:r>
            <a:br>
              <a:rPr lang="en-US" dirty="0"/>
            </a:br>
            <a:br>
              <a:rPr lang="en-US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91543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700F4-6E74-ACA4-CB11-7EC68792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29" y="-233416"/>
            <a:ext cx="8229600" cy="1143000"/>
          </a:xfrm>
        </p:spPr>
        <p:txBody>
          <a:bodyPr/>
          <a:lstStyle/>
          <a:p>
            <a:r>
              <a:rPr lang="en-IL" dirty="0"/>
              <a:t>From the Runs – A Regular Run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BC8064-6B00-53F4-B561-B504F03BC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829464"/>
              </p:ext>
            </p:extLst>
          </p:nvPr>
        </p:nvGraphicFramePr>
        <p:xfrm>
          <a:off x="236484" y="909584"/>
          <a:ext cx="8671032" cy="5493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758">
                  <a:extLst>
                    <a:ext uri="{9D8B030D-6E8A-4147-A177-3AD203B41FA5}">
                      <a16:colId xmlns:a16="http://schemas.microsoft.com/office/drawing/2014/main" val="1722938793"/>
                    </a:ext>
                  </a:extLst>
                </a:gridCol>
                <a:gridCol w="2167758">
                  <a:extLst>
                    <a:ext uri="{9D8B030D-6E8A-4147-A177-3AD203B41FA5}">
                      <a16:colId xmlns:a16="http://schemas.microsoft.com/office/drawing/2014/main" val="800530385"/>
                    </a:ext>
                  </a:extLst>
                </a:gridCol>
                <a:gridCol w="2444302">
                  <a:extLst>
                    <a:ext uri="{9D8B030D-6E8A-4147-A177-3AD203B41FA5}">
                      <a16:colId xmlns:a16="http://schemas.microsoft.com/office/drawing/2014/main" val="1692431060"/>
                    </a:ext>
                  </a:extLst>
                </a:gridCol>
                <a:gridCol w="1891214">
                  <a:extLst>
                    <a:ext uri="{9D8B030D-6E8A-4147-A177-3AD203B41FA5}">
                      <a16:colId xmlns:a16="http://schemas.microsoft.com/office/drawing/2014/main" val="4193341753"/>
                    </a:ext>
                  </a:extLst>
                </a:gridCol>
              </a:tblGrid>
              <a:tr h="339737">
                <a:tc gridSpan="4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specification !( F (((mode = </a:t>
                      </a:r>
                      <a:r>
                        <a:rPr lang="en-US" sz="1800" dirty="0" err="1"/>
                        <a:t>CheckedOut</a:t>
                      </a:r>
                      <a:r>
                        <a:rPr lang="en-US" sz="1800" dirty="0"/>
                        <a:t> &amp; a) &amp; b) &amp; c))  is false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940940"/>
                  </a:ext>
                </a:extLst>
              </a:tr>
              <a:tr h="5128173">
                <a:tc>
                  <a:txBody>
                    <a:bodyPr/>
                    <a:lstStyle/>
                    <a:p>
                      <a:r>
                        <a:rPr lang="en-US" sz="1200" dirty="0"/>
                        <a:t>-- as demonstrated by the following execution sequence</a:t>
                      </a:r>
                    </a:p>
                    <a:p>
                      <a:r>
                        <a:rPr lang="en-US" sz="1200" dirty="0"/>
                        <a:t>Trace Description: LTL Counterexample </a:t>
                      </a:r>
                    </a:p>
                    <a:p>
                      <a:r>
                        <a:rPr lang="en-US" sz="1200" dirty="0"/>
                        <a:t>Trace Type: Counterexample </a:t>
                      </a:r>
                    </a:p>
                    <a:p>
                      <a:r>
                        <a:rPr lang="en-US" sz="1200" dirty="0"/>
                        <a:t>  -&gt; State: 1.1 &lt;-</a:t>
                      </a:r>
                    </a:p>
                    <a:p>
                      <a:r>
                        <a:rPr lang="en-US" sz="1200" dirty="0"/>
                        <a:t>    mode = </a:t>
                      </a:r>
                      <a:r>
                        <a:rPr lang="en-US" sz="1200" dirty="0" err="1"/>
                        <a:t>LoggedOut</a:t>
                      </a:r>
                      <a:endParaRPr lang="en-US" sz="1200" dirty="0"/>
                    </a:p>
                    <a:p>
                      <a:r>
                        <a:rPr lang="en-US" sz="1200" dirty="0"/>
                        <a:t>    items = 0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logout_count</a:t>
                      </a:r>
                      <a:r>
                        <a:rPr lang="en-US" sz="1200" dirty="0"/>
                        <a:t> = 0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max_items</a:t>
                      </a:r>
                      <a:r>
                        <a:rPr lang="en-US" sz="1200" dirty="0"/>
                        <a:t> = 0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seen_add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removed_ever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removed_after_add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enforce_profile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c = TRUE</a:t>
                      </a:r>
                    </a:p>
                    <a:p>
                      <a:r>
                        <a:rPr lang="en-US" sz="1200" dirty="0"/>
                        <a:t>    b = FALSE</a:t>
                      </a:r>
                    </a:p>
                    <a:p>
                      <a:r>
                        <a:rPr lang="en-US" sz="1200" dirty="0"/>
                        <a:t>    a = TRUE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step_label</a:t>
                      </a:r>
                      <a:r>
                        <a:rPr lang="en-US" sz="1200" dirty="0"/>
                        <a:t> = 1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do_remove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do_add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do_checkout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do_logout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do_login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-&gt; State: 1.2 &lt;-</a:t>
                      </a:r>
                    </a:p>
                    <a:p>
                      <a:r>
                        <a:rPr lang="en-US" sz="1200" dirty="0"/>
                        <a:t>    mode = Shopping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step_label</a:t>
                      </a:r>
                      <a:r>
                        <a:rPr lang="en-US" sz="1200" dirty="0"/>
                        <a:t> = 2</a:t>
                      </a:r>
                    </a:p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do_add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do_login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-&gt; State: 1.3 &lt;-</a:t>
                      </a:r>
                    </a:p>
                    <a:p>
                      <a:r>
                        <a:rPr lang="en-US" sz="1200" dirty="0"/>
                        <a:t>    items = 1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max_items</a:t>
                      </a:r>
                      <a:r>
                        <a:rPr lang="en-US" sz="1200" dirty="0"/>
                        <a:t> = 1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seen_add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-&gt; State: 1.4 &lt;-</a:t>
                      </a:r>
                    </a:p>
                    <a:p>
                      <a:r>
                        <a:rPr lang="en-US" sz="1200" dirty="0"/>
                        <a:t>    items = 2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max_items</a:t>
                      </a:r>
                      <a:r>
                        <a:rPr lang="en-US" sz="1200" dirty="0"/>
                        <a:t> = 2</a:t>
                      </a:r>
                    </a:p>
                    <a:p>
                      <a:r>
                        <a:rPr lang="en-US" sz="1200" dirty="0"/>
                        <a:t>  -&gt; State: 1.5 &lt;-</a:t>
                      </a:r>
                    </a:p>
                    <a:p>
                      <a:r>
                        <a:rPr lang="en-US" sz="1200" dirty="0"/>
                        <a:t>    items = 3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max_items</a:t>
                      </a:r>
                      <a:r>
                        <a:rPr lang="en-US" sz="1200" dirty="0"/>
                        <a:t> = 3</a:t>
                      </a:r>
                    </a:p>
                    <a:p>
                      <a:r>
                        <a:rPr lang="en-US" sz="1200" dirty="0"/>
                        <a:t>  -&gt; State: 1.6 &lt;-</a:t>
                      </a:r>
                    </a:p>
                    <a:p>
                      <a:r>
                        <a:rPr lang="en-US" sz="1200" dirty="0"/>
                        <a:t>    items = 4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max_items</a:t>
                      </a:r>
                      <a:r>
                        <a:rPr lang="en-US" sz="1200" dirty="0"/>
                        <a:t> = 4</a:t>
                      </a:r>
                    </a:p>
                    <a:p>
                      <a:r>
                        <a:rPr lang="en-US" sz="1200" dirty="0"/>
                        <a:t>  -&gt; State: 1.7 &lt;-</a:t>
                      </a:r>
                    </a:p>
                    <a:p>
                      <a:r>
                        <a:rPr lang="en-US" sz="1200" dirty="0"/>
                        <a:t>    items = 5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max_items</a:t>
                      </a:r>
                      <a:r>
                        <a:rPr lang="en-US" sz="1200" dirty="0"/>
                        <a:t> = 5</a:t>
                      </a:r>
                    </a:p>
                    <a:p>
                      <a:r>
                        <a:rPr lang="en-US" sz="1200" dirty="0"/>
                        <a:t>    b = TRUE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step_label</a:t>
                      </a:r>
                      <a:r>
                        <a:rPr lang="en-US" sz="1200" dirty="0"/>
                        <a:t> = 4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do_add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do_checkout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-&gt; State: 1.8 &lt;-</a:t>
                      </a:r>
                    </a:p>
                    <a:p>
                      <a:r>
                        <a:rPr lang="en-US" sz="1200" dirty="0"/>
                        <a:t>    mode = </a:t>
                      </a:r>
                      <a:r>
                        <a:rPr lang="en-US" sz="1200" dirty="0" err="1"/>
                        <a:t>CheckedOut</a:t>
                      </a:r>
                      <a:endParaRPr lang="en-US" sz="1200" dirty="0"/>
                    </a:p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items = 0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step_label</a:t>
                      </a:r>
                      <a:r>
                        <a:rPr lang="en-US" sz="1200" dirty="0"/>
                        <a:t> = 0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do_checkout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-&gt; State: 1.9 &lt;-</a:t>
                      </a:r>
                    </a:p>
                    <a:p>
                      <a:r>
                        <a:rPr lang="en-US" sz="1200" dirty="0"/>
                        <a:t>    mode = Shopping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step_label</a:t>
                      </a:r>
                      <a:r>
                        <a:rPr lang="en-US" sz="1200" dirty="0"/>
                        <a:t> = 2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do_add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-&gt; State: 1.10 &lt;-</a:t>
                      </a:r>
                    </a:p>
                    <a:p>
                      <a:r>
                        <a:rPr lang="en-US" sz="1200" dirty="0"/>
                        <a:t>    items = 1</a:t>
                      </a:r>
                    </a:p>
                    <a:p>
                      <a:r>
                        <a:rPr lang="en-US" sz="1200" dirty="0"/>
                        <a:t>  -&gt; State: 1.11 &lt;-</a:t>
                      </a:r>
                    </a:p>
                    <a:p>
                      <a:r>
                        <a:rPr lang="en-US" sz="1200" dirty="0"/>
                        <a:t>    items = 2</a:t>
                      </a:r>
                    </a:p>
                    <a:p>
                      <a:r>
                        <a:rPr lang="en-US" sz="1200" dirty="0"/>
                        <a:t>  -&gt; State: 1.12 &lt;-</a:t>
                      </a:r>
                    </a:p>
                    <a:p>
                      <a:r>
                        <a:rPr lang="en-US" sz="1200" dirty="0"/>
                        <a:t>    items = 3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step_label</a:t>
                      </a:r>
                      <a:r>
                        <a:rPr lang="en-US" sz="1200" dirty="0"/>
                        <a:t> = 3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do_remove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do_add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-- Loop starts here</a:t>
                      </a:r>
                    </a:p>
                    <a:p>
                      <a:r>
                        <a:rPr lang="en-US" sz="1200" dirty="0"/>
                        <a:t>  -&gt; State: 1.13 &lt;-</a:t>
                      </a:r>
                    </a:p>
                    <a:p>
                      <a:r>
                        <a:rPr lang="en-US" sz="1200" dirty="0"/>
                        <a:t>    items = 2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removed_ever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removed_after_add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  c = FALSE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step_label</a:t>
                      </a:r>
                      <a:r>
                        <a:rPr lang="en-US" sz="1200" dirty="0"/>
                        <a:t> = 2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do_remove</a:t>
                      </a:r>
                      <a:r>
                        <a:rPr lang="en-US" sz="1200" dirty="0"/>
                        <a:t> = FALSE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do_add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-&gt; State: 1.14 &lt;-</a:t>
                      </a:r>
                    </a:p>
                    <a:p>
                      <a:r>
                        <a:rPr lang="en-US" sz="1200" dirty="0"/>
                        <a:t>    items = 3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step_label</a:t>
                      </a:r>
                      <a:r>
                        <a:rPr lang="en-US" sz="1200" dirty="0"/>
                        <a:t> = 3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do_remove</a:t>
                      </a:r>
                      <a:r>
                        <a:rPr lang="en-US" sz="1200" dirty="0"/>
                        <a:t> = TRUE</a:t>
                      </a:r>
                    </a:p>
                    <a:p>
                      <a:r>
                        <a:rPr lang="en-US" sz="1200" dirty="0"/>
                        <a:t>    </a:t>
                      </a:r>
                      <a:r>
                        <a:rPr lang="en-US" sz="1200" dirty="0" err="1"/>
                        <a:t>do_add</a:t>
                      </a:r>
                      <a:r>
                        <a:rPr lang="en-US" sz="1200" dirty="0"/>
                        <a:t> = FALSE</a:t>
                      </a:r>
                    </a:p>
                    <a:p>
                      <a:r>
                        <a:rPr lang="en-US" sz="1200" dirty="0"/>
                        <a:t>  -&gt; State: 1.15 &lt;-</a:t>
                      </a:r>
                    </a:p>
                    <a:p>
                      <a:r>
                        <a:rPr lang="en-US" sz="1200" dirty="0"/>
                        <a:t>    items = 2</a:t>
                      </a:r>
                      <a:endParaRPr lang="en-IL" sz="1200" dirty="0"/>
                    </a:p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396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64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22E2-8C1B-3FEE-CA57-A3B8961F3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35266"/>
            <a:ext cx="8229600" cy="1143000"/>
          </a:xfrm>
        </p:spPr>
        <p:txBody>
          <a:bodyPr/>
          <a:lstStyle/>
          <a:p>
            <a:r>
              <a:rPr lang="en-IL" dirty="0"/>
              <a:t>From the Runs – A Constraint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66271-3BDA-1E3B-149B-38063F3872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204749"/>
              </p:ext>
            </p:extLst>
          </p:nvPr>
        </p:nvGraphicFramePr>
        <p:xfrm>
          <a:off x="241738" y="661277"/>
          <a:ext cx="8902262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1131">
                  <a:extLst>
                    <a:ext uri="{9D8B030D-6E8A-4147-A177-3AD203B41FA5}">
                      <a16:colId xmlns:a16="http://schemas.microsoft.com/office/drawing/2014/main" val="3806429005"/>
                    </a:ext>
                  </a:extLst>
                </a:gridCol>
                <a:gridCol w="4451131">
                  <a:extLst>
                    <a:ext uri="{9D8B030D-6E8A-4147-A177-3AD203B41FA5}">
                      <a16:colId xmlns:a16="http://schemas.microsoft.com/office/drawing/2014/main" val="3834375928"/>
                    </a:ext>
                  </a:extLst>
                </a:gridCol>
              </a:tblGrid>
              <a:tr h="353683">
                <a:tc gridSpan="2">
                  <a:txBody>
                    <a:bodyPr/>
                    <a:lstStyle/>
                    <a:p>
                      <a:r>
                        <a:rPr lang="en-US" dirty="0" err="1"/>
                        <a:t>check_ltlspec</a:t>
                      </a:r>
                      <a:r>
                        <a:rPr lang="en-US" dirty="0"/>
                        <a:t> -p "!( F ( (mode = </a:t>
                      </a:r>
                      <a:r>
                        <a:rPr lang="en-US" dirty="0" err="1"/>
                        <a:t>CheckedOut</a:t>
                      </a:r>
                      <a:r>
                        <a:rPr lang="en-US" dirty="0"/>
                        <a:t>) &amp; !</a:t>
                      </a:r>
                      <a:r>
                        <a:rPr lang="en-US" dirty="0" err="1"/>
                        <a:t>a_no_logout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c_no_remove</a:t>
                      </a:r>
                      <a:r>
                        <a:rPr lang="en-US" dirty="0"/>
                        <a:t> ) )"</a:t>
                      </a:r>
                      <a:endParaRPr lang="en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5757979"/>
                  </a:ext>
                </a:extLst>
              </a:tr>
              <a:tr h="5843040">
                <a:tc>
                  <a:txBody>
                    <a:bodyPr/>
                    <a:lstStyle/>
                    <a:p>
                      <a:r>
                        <a:rPr lang="en-IL" dirty="0"/>
                        <a:t>-- no counterexample found with bound 0</a:t>
                      </a:r>
                    </a:p>
                    <a:p>
                      <a:r>
                        <a:rPr lang="en-IL" dirty="0"/>
                        <a:t>-- no counterexample found with bound 1</a:t>
                      </a:r>
                    </a:p>
                    <a:p>
                      <a:r>
                        <a:rPr lang="en-IL" dirty="0"/>
                        <a:t>-- no counterexample found with bound 2</a:t>
                      </a:r>
                    </a:p>
                    <a:p>
                      <a:r>
                        <a:rPr lang="en-IL" dirty="0"/>
                        <a:t>-- no counterexample found with bound 3</a:t>
                      </a:r>
                    </a:p>
                    <a:p>
                      <a:r>
                        <a:rPr lang="en-IL" dirty="0"/>
                        <a:t>-- no counterexample found with bound 4</a:t>
                      </a:r>
                    </a:p>
                    <a:p>
                      <a:r>
                        <a:rPr lang="en-IL" dirty="0"/>
                        <a:t>-- no counterexample found with bound 5</a:t>
                      </a:r>
                    </a:p>
                    <a:p>
                      <a:r>
                        <a:rPr lang="en-IL" dirty="0"/>
                        <a:t>-- no counterexample found with bound 6</a:t>
                      </a:r>
                    </a:p>
                    <a:p>
                      <a:r>
                        <a:rPr lang="en-IL" dirty="0"/>
                        <a:t>-- no counterexample found with bound 7</a:t>
                      </a:r>
                    </a:p>
                    <a:p>
                      <a:r>
                        <a:rPr lang="en-IL" dirty="0"/>
                        <a:t>-- no counterexample found with bound 8</a:t>
                      </a:r>
                    </a:p>
                    <a:p>
                      <a:r>
                        <a:rPr lang="en-IL" dirty="0"/>
                        <a:t>-- no counterexample found with bound 9</a:t>
                      </a:r>
                    </a:p>
                    <a:p>
                      <a:r>
                        <a:rPr lang="en-IL" dirty="0"/>
                        <a:t>-- no counterexample found with bound 10</a:t>
                      </a:r>
                    </a:p>
                    <a:p>
                      <a:r>
                        <a:rPr lang="en-IL" dirty="0"/>
                        <a:t>-- no counterexample found with bound 11</a:t>
                      </a:r>
                    </a:p>
                    <a:p>
                      <a:r>
                        <a:rPr lang="en-IL" dirty="0"/>
                        <a:t>-- no counterexample found with bound 12</a:t>
                      </a:r>
                    </a:p>
                    <a:p>
                      <a:r>
                        <a:rPr lang="en-IL" dirty="0"/>
                        <a:t>-- no counterexample found with bound 13</a:t>
                      </a:r>
                    </a:p>
                    <a:p>
                      <a:r>
                        <a:rPr lang="en-IL" dirty="0"/>
                        <a:t>-- no counterexample found with bound 14</a:t>
                      </a:r>
                    </a:p>
                    <a:p>
                      <a:r>
                        <a:rPr lang="en-IL" dirty="0"/>
                        <a:t>-- no counterexample found with bound 15</a:t>
                      </a:r>
                    </a:p>
                    <a:p>
                      <a:r>
                        <a:rPr lang="en-IL" dirty="0"/>
                        <a:t>-- no counterexample found with bound 16</a:t>
                      </a:r>
                    </a:p>
                    <a:p>
                      <a:r>
                        <a:rPr lang="en-IL" dirty="0"/>
                        <a:t>-- no counterexample found with bound 17</a:t>
                      </a:r>
                    </a:p>
                    <a:p>
                      <a:r>
                        <a:rPr lang="en-IL" dirty="0"/>
                        <a:t>-- no counterexample found with bound 18</a:t>
                      </a:r>
                    </a:p>
                    <a:p>
                      <a:r>
                        <a:rPr lang="en-IL" dirty="0"/>
                        <a:t>-- no counterexample found with bound 19</a:t>
                      </a:r>
                    </a:p>
                    <a:p>
                      <a:r>
                        <a:rPr lang="en-IL" dirty="0"/>
                        <a:t>-- no counterexample found with bound 20</a:t>
                      </a:r>
                    </a:p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-- no counterexample found with bound 21</a:t>
                      </a:r>
                    </a:p>
                    <a:p>
                      <a:r>
                        <a:rPr lang="en-IL" dirty="0"/>
                        <a:t>-- no counterexample found with bound 22</a:t>
                      </a:r>
                    </a:p>
                    <a:p>
                      <a:r>
                        <a:rPr lang="en-IL" dirty="0"/>
                        <a:t>-- no counterexample found with bound 23</a:t>
                      </a:r>
                    </a:p>
                    <a:p>
                      <a:r>
                        <a:rPr lang="en-IL" dirty="0"/>
                        <a:t>-- no counterexample found with bound 24</a:t>
                      </a:r>
                    </a:p>
                    <a:p>
                      <a:r>
                        <a:rPr lang="en-IL" dirty="0"/>
                        <a:t>-- no counterexample found with bound 25</a:t>
                      </a:r>
                    </a:p>
                    <a:p>
                      <a:r>
                        <a:rPr lang="en-IL" dirty="0"/>
                        <a:t>-- no counterexample found with bound 26</a:t>
                      </a:r>
                    </a:p>
                    <a:p>
                      <a:r>
                        <a:rPr lang="en-IL" dirty="0"/>
                        <a:t>-- no counterexample found with bound 27</a:t>
                      </a:r>
                    </a:p>
                    <a:p>
                      <a:r>
                        <a:rPr lang="en-IL" dirty="0"/>
                        <a:t>-- no counterexample found with bound 28</a:t>
                      </a:r>
                    </a:p>
                    <a:p>
                      <a:r>
                        <a:rPr lang="en-IL" dirty="0"/>
                        <a:t>-- no counterexample found with bound 29</a:t>
                      </a:r>
                    </a:p>
                    <a:p>
                      <a:r>
                        <a:rPr lang="en-IL" dirty="0"/>
                        <a:t>-- no counterexample found with bound 30</a:t>
                      </a:r>
                    </a:p>
                    <a:p>
                      <a:r>
                        <a:rPr lang="en-IL" dirty="0"/>
                        <a:t>-- no counterexample found with bound 31</a:t>
                      </a:r>
                    </a:p>
                    <a:p>
                      <a:r>
                        <a:rPr lang="en-IL" dirty="0"/>
                        <a:t>-- no counterexample found with bound 32</a:t>
                      </a:r>
                    </a:p>
                    <a:p>
                      <a:r>
                        <a:rPr lang="en-IL" dirty="0"/>
                        <a:t>-- no counterexample found with bound 33</a:t>
                      </a:r>
                    </a:p>
                    <a:p>
                      <a:r>
                        <a:rPr lang="en-IL" dirty="0"/>
                        <a:t>-- no counterexample found with bound 34</a:t>
                      </a:r>
                    </a:p>
                    <a:p>
                      <a:r>
                        <a:rPr lang="en-IL" dirty="0"/>
                        <a:t>-- no counterexample found with bound 35</a:t>
                      </a:r>
                    </a:p>
                    <a:p>
                      <a:r>
                        <a:rPr lang="en-IL" dirty="0"/>
                        <a:t>-- no counterexample found with bound 36</a:t>
                      </a:r>
                    </a:p>
                    <a:p>
                      <a:r>
                        <a:rPr lang="en-IL" dirty="0"/>
                        <a:t>-- no counterexample found with bound 37</a:t>
                      </a:r>
                    </a:p>
                    <a:p>
                      <a:r>
                        <a:rPr lang="en-IL" dirty="0"/>
                        <a:t>-- no counterexample found with bound 38</a:t>
                      </a:r>
                    </a:p>
                    <a:p>
                      <a:r>
                        <a:rPr lang="en-IL" dirty="0"/>
                        <a:t>-- no counterexample found with bound 39</a:t>
                      </a:r>
                    </a:p>
                    <a:p>
                      <a:r>
                        <a:rPr lang="en-IL" dirty="0"/>
                        <a:t>-- no counterexample found with bound 40</a:t>
                      </a:r>
                    </a:p>
                    <a:p>
                      <a:r>
                        <a:rPr lang="en-IL" dirty="0"/>
                        <a:t>specification !( F ((mode = CheckedOut &amp; !a_no_logout) &amp; c_no_remove))  is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512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98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/>
              <a:t> A/B/C</a:t>
            </a:r>
            <a:r>
              <a:rPr lang="en-US" dirty="0"/>
              <a:t> (Property Based) Vs. Units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131424"/>
              </p:ext>
            </p:extLst>
          </p:nvPr>
        </p:nvGraphicFramePr>
        <p:xfrm>
          <a:off x="274320" y="1188720"/>
          <a:ext cx="8552535" cy="588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8240"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defRPr sz="1600" b="1"/>
                      </a:pPr>
                      <a:endParaRPr dirty="0"/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en-US" dirty="0"/>
                        <a:t>Includes</a:t>
                      </a:r>
                      <a:endParaRPr dirty="0"/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en-US" dirty="0"/>
                        <a:t>Advantages</a:t>
                      </a:r>
                      <a:endParaRPr dirty="0"/>
                    </a:p>
                  </a:txBody>
                  <a:tcPr>
                    <a:solidFill>
                      <a:srgbClr val="C8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/>
                      </a:pPr>
                      <a:r>
                        <a:rPr lang="en-US" dirty="0"/>
                        <a:t>Disadvantages</a:t>
                      </a:r>
                      <a:endParaRPr dirty="0"/>
                    </a:p>
                  </a:txBody>
                  <a:tcPr>
                    <a:solidFill>
                      <a:srgbClr val="C8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3 Units</a:t>
                      </a:r>
                    </a:p>
                    <a:p>
                      <a:r>
                        <a:rPr dirty="0"/>
                        <a:t>User, Cart, Inventory</a:t>
                      </a:r>
                    </a:p>
                  </a:txBody>
                  <a:tcPr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dirty="0"/>
                        <a:t>User state</a:t>
                      </a:r>
                      <a:r>
                        <a:rPr lang="en-US" dirty="0"/>
                        <a:t> e.g. </a:t>
                      </a:r>
                      <a:r>
                        <a:rPr dirty="0"/>
                        <a:t>login/logout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dirty="0"/>
                        <a:t>Cart state (items, total)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dirty="0"/>
                        <a:t>Inventory (stock)</a:t>
                      </a:r>
                    </a:p>
                  </a:txBody>
                  <a:tcPr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How a system looks like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Intuitive for developers and QAs</a:t>
                      </a:r>
                      <a:endParaRPr dirty="0"/>
                    </a:p>
                  </a:txBody>
                  <a:tcPr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Huge test domain</a:t>
                      </a:r>
                      <a:endParaRPr lang="he-IL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Hard to isolate the relevant states.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Harder to use with straightforward CTD.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Cart/user/inventory actions only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Constraints are harder to be used in this case (</a:t>
                      </a:r>
                      <a:r>
                        <a:rPr lang="he-IL" dirty="0"/>
                        <a:t>שילובים מסוימים לא יכולים לקרות</a:t>
                      </a:r>
                      <a:r>
                        <a:rPr lang="en-US" dirty="0"/>
                        <a:t>)</a:t>
                      </a:r>
                      <a:endParaRPr dirty="0"/>
                    </a:p>
                  </a:txBody>
                  <a:tcPr>
                    <a:solidFill>
                      <a:srgbClr val="EB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A/B/C Flags</a:t>
                      </a:r>
                    </a:p>
                    <a:p>
                      <a:r>
                        <a:rPr dirty="0"/>
                        <a:t>Temporal Properties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A: no logout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B: max items seen (in the example we can use it as a multiple choice and not necessarily as Boolean)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C: </a:t>
                      </a:r>
                      <a:r>
                        <a:rPr lang="en-US" dirty="0"/>
                        <a:t>remove after add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Clear temporal properties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The test space is reduced into 8 tests. (if it’s a bool param for each)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Very easy pairwise for AB, BC, AC.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Less intuitive to start with.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  <a:defRPr sz="1400"/>
                      </a:pPr>
                      <a:r>
                        <a:rPr lang="en-US" dirty="0"/>
                        <a:t>Requires abstract thinking.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lang="en-US" dirty="0"/>
              <a:t>Conclusion and Next Steps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1417638"/>
            <a:ext cx="838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Can be used with a system that is composed of units (such as User, Cart, Inventory).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A/B/C are affective for Test Design abstraction.</a:t>
            </a:r>
            <a:endParaRPr lang="he-IL" dirty="0"/>
          </a:p>
          <a:p>
            <a:pPr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u="sng" dirty="0"/>
              <a:t>New features for the method: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Not only Boolean values but also numeric values can be used.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dirty="0"/>
              <a:t>Termination condition - part of the defined test (in this case checkout)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5982</TotalTime>
  <Words>1604</Words>
  <Application>Microsoft Macintosh PowerPoint</Application>
  <PresentationFormat>On-screen Show (4:3)</PresentationFormat>
  <Paragraphs>215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The Story of Temporal Coverage </vt:lpstr>
      <vt:lpstr>Our General Goal – Minimize the Amount of Tests </vt:lpstr>
      <vt:lpstr>Defining A, B, C</vt:lpstr>
      <vt:lpstr>IPO Based Pairwise Coverage Validation Checklist</vt:lpstr>
      <vt:lpstr>From the Runs – A Regular Run</vt:lpstr>
      <vt:lpstr>From the Runs – A Constraint</vt:lpstr>
      <vt:lpstr> A/B/C (Property Based) Vs. Units</vt:lpstr>
      <vt:lpstr>Conclusion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Zoya shaham</cp:lastModifiedBy>
  <cp:revision>4</cp:revision>
  <dcterms:created xsi:type="dcterms:W3CDTF">2013-01-27T09:14:16Z</dcterms:created>
  <dcterms:modified xsi:type="dcterms:W3CDTF">2025-10-22T09:59:52Z</dcterms:modified>
  <cp:category/>
</cp:coreProperties>
</file>